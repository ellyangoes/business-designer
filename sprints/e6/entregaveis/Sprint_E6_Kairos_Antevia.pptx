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 — Founder-led</c:v>
                </c:pt>
              </c:strCache>
            </c:strRef>
          </c:tx>
          <c:spPr>
            <a:solidFill>
              <a:srgbClr val="F2B705"/>
            </a:solidFill>
            <a:ln w="31750" cap="flat">
              <a:solidFill>
                <a:srgbClr val="F2B70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2B705"/>
              </a:solidFill>
              <a:ln w="9525" cap="flat">
                <a:solidFill>
                  <a:srgbClr val="F2B70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  <c:pt idx="5">
                    <c:v>T6</c:v>
                  </c:pt>
                  <c:pt idx="6">
                    <c:v>T7</c:v>
                  </c:pt>
                  <c:pt idx="7">
                    <c:v>T8</c:v>
                  </c:pt>
                  <c:pt idx="8">
                    <c:v>T9</c:v>
                  </c:pt>
                  <c:pt idx="9">
                    <c:v>T10</c:v>
                  </c:pt>
                  <c:pt idx="10">
                    <c:v>T11</c:v>
                  </c:pt>
                  <c:pt idx="11">
                    <c:v>T12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-18</c:v>
                </c:pt>
                <c:pt idx="1">
                  <c:v>-21.5</c:v>
                </c:pt>
                <c:pt idx="2">
                  <c:v>-18.5</c:v>
                </c:pt>
                <c:pt idx="3">
                  <c:v>-9</c:v>
                </c:pt>
                <c:pt idx="4">
                  <c:v>-31.3</c:v>
                </c:pt>
                <c:pt idx="5">
                  <c:v>-21.8</c:v>
                </c:pt>
                <c:pt idx="6">
                  <c:v>-2</c:v>
                </c:pt>
                <c:pt idx="7">
                  <c:v>25.6</c:v>
                </c:pt>
                <c:pt idx="8">
                  <c:v>12</c:v>
                </c:pt>
                <c:pt idx="9">
                  <c:v>65.9</c:v>
                </c:pt>
                <c:pt idx="10">
                  <c:v>145.8</c:v>
                </c:pt>
                <c:pt idx="11">
                  <c:v>245.1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 — Professional-led</c:v>
                </c:pt>
              </c:strCache>
            </c:strRef>
          </c:tx>
          <c:spPr>
            <a:solidFill>
              <a:srgbClr val="0B1220"/>
            </a:solidFill>
            <a:ln w="31750" cap="flat">
              <a:solidFill>
                <a:srgbClr val="0B122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B1220"/>
              </a:solidFill>
              <a:ln w="9525" cap="flat">
                <a:solidFill>
                  <a:srgbClr val="0B122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  <c:pt idx="5">
                    <c:v>T6</c:v>
                  </c:pt>
                  <c:pt idx="6">
                    <c:v>T7</c:v>
                  </c:pt>
                  <c:pt idx="7">
                    <c:v>T8</c:v>
                  </c:pt>
                  <c:pt idx="8">
                    <c:v>T9</c:v>
                  </c:pt>
                  <c:pt idx="9">
                    <c:v>T10</c:v>
                  </c:pt>
                  <c:pt idx="10">
                    <c:v>T11</c:v>
                  </c:pt>
                  <c:pt idx="11">
                    <c:v>T12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-55.2</c:v>
                </c:pt>
                <c:pt idx="1">
                  <c:v>-95.9</c:v>
                </c:pt>
                <c:pt idx="2">
                  <c:v>-130.1</c:v>
                </c:pt>
                <c:pt idx="3">
                  <c:v>-157.8</c:v>
                </c:pt>
                <c:pt idx="4">
                  <c:v>-211.4</c:v>
                </c:pt>
                <c:pt idx="5">
                  <c:v>-233.2</c:v>
                </c:pt>
                <c:pt idx="6">
                  <c:v>-244.7</c:v>
                </c:pt>
                <c:pt idx="7">
                  <c:v>-248.4</c:v>
                </c:pt>
                <c:pt idx="8">
                  <c:v>-286</c:v>
                </c:pt>
                <c:pt idx="9">
                  <c:v>-256.1</c:v>
                </c:pt>
                <c:pt idx="10">
                  <c:v>-200.2</c:v>
                </c:pt>
                <c:pt idx="11">
                  <c:v>-124.9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B1220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"/>
          <c:min val="-300"/>
        </c:scaling>
        <c:delete val="0"/>
        <c:axPos val="l"/>
        <c:majorGridlines>
          <c:spPr>
            <a:ln w="9525" cap="flat">
              <a:solidFill>
                <a:srgbClr val="E6E8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B7280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 — Founder-led</c:v>
                </c:pt>
              </c:strCache>
            </c:strRef>
          </c:tx>
          <c:spPr>
            <a:solidFill>
              <a:srgbClr val="F2B705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1220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Pessimista</c:v>
                  </c:pt>
                  <c:pt idx="1">
                    <c:v>Tendencial</c:v>
                  </c:pt>
                  <c:pt idx="2">
                    <c:v>Otimista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328.5</c:v>
                </c:pt>
                <c:pt idx="1">
                  <c:v>47.4</c:v>
                </c:pt>
                <c:pt idx="2">
                  <c:v>29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 — Professional-led</c:v>
                </c:pt>
              </c:strCache>
            </c:strRef>
          </c:tx>
          <c:spPr>
            <a:solidFill>
              <a:srgbClr val="0B1220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1220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Pessimista</c:v>
                  </c:pt>
                  <c:pt idx="1">
                    <c:v>Tendencial</c:v>
                  </c:pt>
                  <c:pt idx="2">
                    <c:v>Otimista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776.4</c:v>
                </c:pt>
                <c:pt idx="1">
                  <c:v>337.5</c:v>
                </c:pt>
                <c:pt idx="2">
                  <c:v>177.1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b="0" i="0" strike="noStrike" sz="1000" u="none">
                  <a:solidFill>
                    <a:srgbClr val="0B1220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B1220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0"/>
        </c:scaling>
        <c:delete val="0"/>
        <c:axPos val="l"/>
        <c:majorGridlines>
          <c:spPr>
            <a:ln w="9525" cap="flat">
              <a:solidFill>
                <a:srgbClr val="E6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  <c:majorUnit val="30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B7280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arca/antevia_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3611880" cy="914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463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F2B70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SPRINT E6 · PROJEÇÃO DE CUSTOS, DESPESAS E INVESTIMENTOS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719072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Consolidação em DFC de 3 anos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2697480"/>
            <a:ext cx="7498080" cy="1234440"/>
          </a:xfrm>
          <a:prstGeom prst="roundRect">
            <a:avLst>
              <a:gd name="adj" fmla="val 5926"/>
            </a:avLst>
          </a:prstGeom>
          <a:solidFill>
            <a:srgbClr val="1B2435"/>
          </a:solidFill>
          <a:ln w="12700">
            <a:solidFill>
              <a:srgbClr val="1B243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28620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F2B70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PERGUNTA DO E6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127248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Que estrutura é necessária para implementar o negócio projetado — e o que essa estrutura faz com o caixa?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4069080"/>
            <a:ext cx="7498080" cy="1280160"/>
          </a:xfrm>
          <a:prstGeom prst="roundRect">
            <a:avLst>
              <a:gd name="adj" fmla="val 5714"/>
            </a:avLst>
          </a:prstGeom>
          <a:solidFill>
            <a:srgbClr val="1B2435"/>
          </a:solidFill>
          <a:ln w="12700">
            <a:solidFill>
              <a:srgbClr val="1B243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42336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F2B70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RESPOSTA EM UMA LINHA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4498848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entrada founder-led é a alternativa financeiramente mais robusta; a estrutura profissional deve ser condicionada à validação comercial.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503920" y="2697480"/>
            <a:ext cx="3246120" cy="777240"/>
          </a:xfrm>
          <a:prstGeom prst="roundRect">
            <a:avLst>
              <a:gd name="adj" fmla="val 9412"/>
            </a:avLst>
          </a:prstGeom>
          <a:solidFill>
            <a:srgbClr val="1B2435"/>
          </a:solidFill>
          <a:ln w="12700">
            <a:solidFill>
              <a:srgbClr val="1B243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732520" y="28072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F2B70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PROCESSO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732520" y="299008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7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9921240" y="29900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macroetapas + camada transversal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503920" y="3611880"/>
            <a:ext cx="3246120" cy="777240"/>
          </a:xfrm>
          <a:prstGeom prst="roundRect">
            <a:avLst>
              <a:gd name="adj" fmla="val 9412"/>
            </a:avLst>
          </a:prstGeom>
          <a:solidFill>
            <a:srgbClr val="1B2435"/>
          </a:solidFill>
          <a:ln w="12700">
            <a:solidFill>
              <a:srgbClr val="1B243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32520" y="3721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F2B70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MODELO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8732520" y="390448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 / B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9921240" y="39044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Bootstrap · Angel/staff · (C: dívida, descartada)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503920" y="4526280"/>
            <a:ext cx="3246120" cy="777240"/>
          </a:xfrm>
          <a:prstGeom prst="roundRect">
            <a:avLst>
              <a:gd name="adj" fmla="val 9412"/>
            </a:avLst>
          </a:prstGeom>
          <a:solidFill>
            <a:srgbClr val="1B2435"/>
          </a:solidFill>
          <a:ln w="12700">
            <a:solidFill>
              <a:srgbClr val="1B243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732520" y="46360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F2B70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HORIZONTE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8732520" y="481888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12T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9921240" y="48188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trimestres · cenários P / T / O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56235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B70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Princípio de modelagem  </a:t>
            </a:r>
            <a:pPr indent="0" marL="0">
              <a:buNone/>
            </a:pPr>
            <a:r>
              <a:rPr lang="en-US" sz="11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premissas não validadas permanecem identificadas como premissas, não como fatos.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Kairós · Business Designer · Fundação Dom Cabral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649224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20" kern="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KAIRÓS · BUSINESS DESIGN · SPRINT E6 · PROJEÇÕES ECO-FIN · FONTE: MODELAGEM E6 ANTÉVIA (ECOFIN)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820095" y="6492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/ 17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  </a:t>
            </a:r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Do macroprocesso aos recursos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custo não nasce da planilha: nasce das atividades necessárias para entregar a proposta de valor.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51659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554480"/>
            <a:ext cx="347472" cy="347472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554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947672"/>
            <a:ext cx="12422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Aquisição &amp; parcerias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946366" y="1801368"/>
            <a:ext cx="146304" cy="237744"/>
          </a:xfrm>
          <a:prstGeom prst="chevron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83526" y="1417320"/>
            <a:ext cx="151659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20686" y="1554480"/>
            <a:ext cx="347472" cy="347472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20686" y="1554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220686" y="1947672"/>
            <a:ext cx="12422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Onboarding &amp; diagnóstico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572691" y="1801368"/>
            <a:ext cx="146304" cy="237744"/>
          </a:xfrm>
          <a:prstGeom prst="chevron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09851" y="1417320"/>
            <a:ext cx="151659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47011" y="1554480"/>
            <a:ext cx="347472" cy="347472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847011" y="1554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847011" y="1947672"/>
            <a:ext cx="12422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Planejamento da viagem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199017" y="1801368"/>
            <a:ext cx="146304" cy="237744"/>
          </a:xfrm>
          <a:prstGeom prst="chevron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36177" y="1417320"/>
            <a:ext cx="151659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73337" y="1554480"/>
            <a:ext cx="347472" cy="347472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73337" y="1554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73337" y="1947672"/>
            <a:ext cx="12422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Intermediação &amp; contratação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25343" y="1801368"/>
            <a:ext cx="146304" cy="237744"/>
          </a:xfrm>
          <a:prstGeom prst="chevron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62503" y="1417320"/>
            <a:ext cx="151659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099663" y="1554480"/>
            <a:ext cx="347472" cy="347472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099663" y="1554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99663" y="1947672"/>
            <a:ext cx="12422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Pré-viagem &amp; concierge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451669" y="1801368"/>
            <a:ext cx="146304" cy="237744"/>
          </a:xfrm>
          <a:prstGeom prst="chevron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88829" y="1417320"/>
            <a:ext cx="151659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725989" y="1554480"/>
            <a:ext cx="347472" cy="347472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725989" y="1554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725989" y="1947672"/>
            <a:ext cx="12422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Viagem &amp; exceções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0077994" y="1801368"/>
            <a:ext cx="146304" cy="237744"/>
          </a:xfrm>
          <a:prstGeom prst="chevron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215154" y="1417320"/>
            <a:ext cx="151659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4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352314" y="1554480"/>
            <a:ext cx="347472" cy="347472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352314" y="1554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0352314" y="1947672"/>
            <a:ext cx="12422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Pós-viagem &amp; retenção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" y="2606040"/>
            <a:ext cx="694944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4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731520" y="2788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728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RECURSOS QUE O MACROPROCESSO EXIGE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063240"/>
          <a:ext cx="64008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9184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Recurso</a:t>
                      </a:r>
                      <a:endParaRPr lang="en-US" sz="9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Onde entra</a:t>
                      </a:r>
                      <a:endParaRPr lang="en-US" sz="9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Natureza</a:t>
                      </a:r>
                      <a:endParaRPr lang="en-US" sz="9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Pessoas</a:t>
                      </a:r>
                      <a:endParaRPr lang="en-US" sz="10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Ops/CS, comercial/parcerias, founders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Custo / SG&amp;A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Tecnologia</a:t>
                      </a:r>
                      <a:endParaRPr lang="en-US" sz="10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SaaS, plataforma, automações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OPEX / CAPEX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Meios de pagamento</a:t>
                      </a:r>
                      <a:endParaRPr lang="en-US" sz="10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Processamento do fee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Variável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Marketing</a:t>
                      </a:r>
                      <a:endParaRPr lang="en-US" sz="10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Aquisição e prospecção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SG&amp;A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Legal / fiscal</a:t>
                      </a:r>
                      <a:endParaRPr lang="en-US" sz="10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Contábil, jurídico, tributação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SG&amp;A / tributos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Reserva operacional</a:t>
                      </a:r>
                      <a:endParaRPr lang="en-US" sz="10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Perdas, exceções e runway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Caixa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" name="Shape 38"/>
          <p:cNvSpPr/>
          <p:nvPr/>
        </p:nvSpPr>
        <p:spPr>
          <a:xfrm>
            <a:off x="7635240" y="2606040"/>
            <a:ext cx="4096512" cy="1143000"/>
          </a:xfrm>
          <a:prstGeom prst="roundRect">
            <a:avLst>
              <a:gd name="adj" fmla="val 6400"/>
            </a:avLst>
          </a:prstGeom>
          <a:solidFill>
            <a:srgbClr val="E6E8F0"/>
          </a:solidFill>
          <a:ln w="12700">
            <a:solidFill>
              <a:srgbClr val="E6E8F0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863840" y="2770632"/>
            <a:ext cx="363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1B243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AUTOMATIZÁVEL</a:t>
            </a:r>
            <a:endParaRPr lang="en-US" sz="900" dirty="0"/>
          </a:p>
        </p:txBody>
      </p:sp>
      <p:sp>
        <p:nvSpPr>
          <p:cNvPr id="43" name="Text 40"/>
          <p:cNvSpPr txBox="1"/>
          <p:nvPr/>
        </p:nvSpPr>
        <p:spPr>
          <a:xfrm>
            <a:off x="7863840" y="3017520"/>
            <a:ext cx="3639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Cadastro, coleta de preferências, lembretes, registro e acompanhamento.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7635240" y="3858768"/>
            <a:ext cx="4096512" cy="1143000"/>
          </a:xfrm>
          <a:prstGeom prst="roundRect">
            <a:avLst>
              <a:gd name="adj" fmla="val 6400"/>
            </a:avLst>
          </a:prstGeom>
          <a:solidFill>
            <a:srgbClr val="FDF1CB"/>
          </a:solidFill>
          <a:ln w="12700">
            <a:solidFill>
              <a:srgbClr val="FDF1CB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7863840" y="4023360"/>
            <a:ext cx="363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1B243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HUMAN-IN-THE-LOOP</a:t>
            </a:r>
            <a:endParaRPr lang="en-US" sz="900" dirty="0"/>
          </a:p>
        </p:txBody>
      </p:sp>
      <p:sp>
        <p:nvSpPr>
          <p:cNvPr id="46" name="Text 43"/>
          <p:cNvSpPr txBox="1"/>
          <p:nvPr/>
        </p:nvSpPr>
        <p:spPr>
          <a:xfrm>
            <a:off x="7863840" y="4270248"/>
            <a:ext cx="3639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Recomendação, negociação e decisões ambíguas.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7635240" y="5111496"/>
            <a:ext cx="4096512" cy="1143000"/>
          </a:xfrm>
          <a:prstGeom prst="roundRect">
            <a:avLst>
              <a:gd name="adj" fmla="val 640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7863840" y="5276088"/>
            <a:ext cx="363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F2B70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INTENSIVO EM HUMANO</a:t>
            </a:r>
            <a:endParaRPr lang="en-US" sz="900" dirty="0"/>
          </a:p>
        </p:txBody>
      </p:sp>
      <p:sp>
        <p:nvSpPr>
          <p:cNvPr id="49" name="Text 46"/>
          <p:cNvSpPr txBox="1"/>
          <p:nvPr/>
        </p:nvSpPr>
        <p:spPr>
          <a:xfrm>
            <a:off x="7863840" y="5522976"/>
            <a:ext cx="3639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Exceções, crises e relacionamento.</a:t>
            </a:r>
            <a:endParaRPr lang="en-US" sz="1100" dirty="0"/>
          </a:p>
        </p:txBody>
      </p:sp>
      <p:sp>
        <p:nvSpPr>
          <p:cNvPr id="50" name="Text 47"/>
          <p:cNvSpPr txBox="1"/>
          <p:nvPr/>
        </p:nvSpPr>
        <p:spPr>
          <a:xfrm>
            <a:off x="457200" y="649224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20" kern="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KAIRÓS · BUSINESS DESIGN · SPRINT E6 · PROJEÇÕES ECO-FIN · FONTE: MODELAGEM E6 ANTÉVIA (ECOFIN)</a:t>
            </a:r>
            <a:endParaRPr lang="en-US" sz="700" dirty="0"/>
          </a:p>
        </p:txBody>
      </p:sp>
      <p:sp>
        <p:nvSpPr>
          <p:cNvPr id="51" name="Text 48"/>
          <p:cNvSpPr txBox="1"/>
          <p:nvPr/>
        </p:nvSpPr>
        <p:spPr>
          <a:xfrm>
            <a:off x="10820095" y="6492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17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  </a:t>
            </a:r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Estrutura de pessoal: o principal divisor entre A e B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mesmo macroprocesso; dois modos de fornecer capacidade operacional.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72237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728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HEADCOUNT E CUSTO POR ANO (R$ MIL)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74520"/>
          <a:ext cx="66751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463040"/>
                <a:gridCol w="1463040"/>
                <a:gridCol w="14630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Ano 1</a:t>
                      </a:r>
                      <a:endParaRPr lang="en-US" sz="9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Ano 2</a:t>
                      </a:r>
                      <a:endParaRPr lang="en-US" sz="9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Ano 3</a:t>
                      </a:r>
                      <a:endParaRPr lang="en-US" sz="9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A · Headcount staff</a:t>
                      </a:r>
                      <a:endParaRPr lang="en-US" sz="10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 Ops/CS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 Ops/CS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A · Custo de staff</a:t>
                      </a:r>
                      <a:endParaRPr lang="en-US" sz="10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84,0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184,8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122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A · OPEX total</a:t>
                      </a:r>
                      <a:endParaRPr lang="en-US" sz="10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C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66,0</a:t>
                      </a:r>
                      <a:endParaRPr lang="en-US" sz="10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C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198,8</a:t>
                      </a:r>
                      <a:endParaRPr lang="en-US" sz="10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C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381,6</a:t>
                      </a:r>
                      <a:endParaRPr lang="en-US" sz="10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C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B · Headcount staff</a:t>
                      </a:r>
                      <a:endParaRPr lang="en-US" sz="10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B · Custo de staff</a:t>
                      </a:r>
                      <a:endParaRPr lang="en-US" sz="10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176,4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277,2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310,8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122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B · OPEX total</a:t>
                      </a:r>
                      <a:endParaRPr lang="en-US" sz="10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C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214,8</a:t>
                      </a:r>
                      <a:endParaRPr lang="en-US" sz="10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C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324,0</a:t>
                      </a:r>
                      <a:endParaRPr lang="en-US" sz="10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C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477,6</a:t>
                      </a:r>
                      <a:endParaRPr lang="en-US" sz="10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CB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909560" y="1417320"/>
            <a:ext cx="3822192" cy="1554480"/>
          </a:xfrm>
          <a:prstGeom prst="roundRect">
            <a:avLst>
              <a:gd name="adj" fmla="val 4706"/>
            </a:avLst>
          </a:prstGeom>
          <a:solidFill>
            <a:srgbClr val="FDF1CB"/>
          </a:solidFill>
          <a:ln w="12700">
            <a:solidFill>
              <a:srgbClr val="FDF1C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138160" y="1581912"/>
            <a:ext cx="3364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1B243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SWEAT EQUITY · ANO 1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8138160" y="1828800"/>
            <a:ext cx="33649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founders × R$ 6,2 mil/mês × 12 = R$ 148,8 mil de valor econômico não desembolsado.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909560" y="3154680"/>
            <a:ext cx="3822192" cy="1554480"/>
          </a:xfrm>
          <a:prstGeom prst="roundRect">
            <a:avLst>
              <a:gd name="adj" fmla="val 4706"/>
            </a:avLst>
          </a:prstGeom>
          <a:solidFill>
            <a:srgbClr val="E6E8F0"/>
          </a:solidFill>
          <a:ln w="12700">
            <a:solidFill>
              <a:srgbClr val="E6E8F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138160" y="3319272"/>
            <a:ext cx="3364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1B243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PREMISSA TRABALHISTA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8138160" y="3566160"/>
            <a:ext cx="33649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40% de encargos + benefícios sobre salário. Proxy acadêmica, editável.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4937760"/>
            <a:ext cx="11274552" cy="1325880"/>
          </a:xfrm>
          <a:prstGeom prst="roundRect">
            <a:avLst>
              <a:gd name="adj" fmla="val 5517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5102352"/>
            <a:ext cx="10817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F2B70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LEITURA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5349240"/>
            <a:ext cx="10817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E6E8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 compra capacidade desde o ano 1; A posterga o desembolso até a tração justificar. Equipe B: 1 Ops/CS + 1 Comercial/Parcerias no ano 1; 2 Ops/CS + 1 Comercial nos anos 2 e 3.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49224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20" kern="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KAIRÓS · BUSINESS DESIGN · SPRINT E6 · PROJEÇÕES ECO-FIN · FONTE: MODELAGEM E6 ANTÉVIA (ECOFIN)</a:t>
            </a:r>
            <a:endParaRPr lang="en-US" sz="700" dirty="0"/>
          </a:p>
        </p:txBody>
      </p:sp>
      <p:sp>
        <p:nvSpPr>
          <p:cNvPr id="17" name="Text 14"/>
          <p:cNvSpPr txBox="1"/>
          <p:nvPr/>
        </p:nvSpPr>
        <p:spPr>
          <a:xfrm>
            <a:off x="10820095" y="6492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17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3  </a:t>
            </a:r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Arquitetura de custos, despesas e investimentos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DFC separa o que varia com a operação do que sustenta a estrutura.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7223760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728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CAMADAS DA MODELAGEM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74520"/>
          <a:ext cx="66751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840480"/>
                <a:gridCol w="137160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Camada</a:t>
                      </a:r>
                      <a:endParaRPr lang="en-US" sz="9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Premissa / tratamento</a:t>
                      </a:r>
                      <a:endParaRPr lang="en-US" sz="9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Impacto</a:t>
                      </a:r>
                      <a:endParaRPr lang="en-US" sz="9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Tributos</a:t>
                      </a:r>
                      <a:endParaRPr lang="en-US" sz="10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Simples Nacional / Anexo III como base acadêmica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Receita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Processamento</a:t>
                      </a:r>
                      <a:endParaRPr lang="en-US" sz="10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3% sobre o fee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Variável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Perdas</a:t>
                      </a:r>
                      <a:endParaRPr lang="en-US" sz="10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1% tendencial · 2% pessimista · 0,5% otimista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Variável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Prestação</a:t>
                      </a:r>
                      <a:endParaRPr lang="en-US" sz="10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60% do OPEX A · 65% do OPEX B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Custos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SG&amp;A</a:t>
                      </a:r>
                      <a:endParaRPr lang="en-US" sz="10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40% do OPEX A · 35% do OPEX B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Despesas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CAPEX</a:t>
                      </a:r>
                      <a:endParaRPr lang="en-US" sz="10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R$ 8 mil · R$ 24 mil · R$ 48 mil (anos 1–3)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Investimento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909560" y="1417320"/>
            <a:ext cx="3822192" cy="1417320"/>
          </a:xfrm>
          <a:prstGeom prst="roundRect">
            <a:avLst>
              <a:gd name="adj" fmla="val 5161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138160" y="1581912"/>
            <a:ext cx="3364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F2B70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ASSET-LIGHT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8138160" y="1828800"/>
            <a:ext cx="3364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principal comprometimento fixo não é infraestrutura física: é capacidade humana.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909560" y="2971800"/>
            <a:ext cx="3822192" cy="1051560"/>
          </a:xfrm>
          <a:prstGeom prst="roundRect">
            <a:avLst>
              <a:gd name="adj" fmla="val 6957"/>
            </a:avLst>
          </a:prstGeom>
          <a:solidFill>
            <a:srgbClr val="E6E8F0"/>
          </a:solidFill>
          <a:ln w="12700">
            <a:solidFill>
              <a:srgbClr val="E6E8F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138160" y="3136392"/>
            <a:ext cx="3364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1B243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ALOCAÇÃO GERENCIAL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8138160" y="3383280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Custos × SG&amp;A é uma abertura para aderência acadêmica; o OPEX total não muda.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909560" y="4160520"/>
            <a:ext cx="3822192" cy="960120"/>
          </a:xfrm>
          <a:prstGeom prst="roundRect">
            <a:avLst>
              <a:gd name="adj" fmla="val 7619"/>
            </a:avLst>
          </a:prstGeom>
          <a:solidFill>
            <a:srgbClr val="FDF1CB"/>
          </a:solidFill>
          <a:ln w="12700">
            <a:solidFill>
              <a:srgbClr val="FDF1C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138160" y="4325112"/>
            <a:ext cx="3364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1B243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RESSALVA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138160" y="4572000"/>
            <a:ext cx="3364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Orçamentos de tecnologia, salários e regime fiscal devem ser validados antes da implementação real.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49224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20" kern="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KAIRÓS · BUSINESS DESIGN · SPRINT E6 · PROJEÇÕES ECO-FIN · FONTE: MODELAGEM E6 ANTÉVIA (ECOFIN)</a:t>
            </a:r>
            <a:endParaRPr lang="en-US" sz="700" dirty="0"/>
          </a:p>
        </p:txBody>
      </p:sp>
      <p:sp>
        <p:nvSpPr>
          <p:cNvPr id="17" name="Text 14"/>
          <p:cNvSpPr txBox="1"/>
          <p:nvPr/>
        </p:nvSpPr>
        <p:spPr>
          <a:xfrm>
            <a:off x="10820095" y="6492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17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4  </a:t>
            </a:r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Cenários de receita herdados da trajetória do projeto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E6 usa as projeções anteriores como entrada para testar a estrutura de custos.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74552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728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RECEITA POR ANO (R$ MIL) E VIAGENS EM 3 ANOS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74520"/>
          <a:ext cx="1072591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91640"/>
                <a:gridCol w="1691640"/>
                <a:gridCol w="1691640"/>
                <a:gridCol w="1737360"/>
                <a:gridCol w="171907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Cenário</a:t>
                      </a:r>
                      <a:endParaRPr lang="en-US" sz="100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Ano 1</a:t>
                      </a:r>
                      <a:endParaRPr lang="en-US" sz="100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Ano 2</a:t>
                      </a:r>
                      <a:endParaRPr lang="en-US" sz="100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Ano 3</a:t>
                      </a:r>
                      <a:endParaRPr lang="en-US" sz="100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3 anos</a:t>
                      </a:r>
                      <a:endParaRPr lang="en-US" sz="100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Viagens</a:t>
                      </a:r>
                      <a:endParaRPr lang="en-US" sz="100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22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Pessimista</a:t>
                      </a:r>
                      <a:endParaRPr lang="en-US" sz="110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38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140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372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550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2.763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Tendencial</a:t>
                      </a:r>
                      <a:endParaRPr lang="en-US" sz="110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C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71</a:t>
                      </a:r>
                      <a:endParaRPr lang="en-US" sz="11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C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284</a:t>
                      </a:r>
                      <a:endParaRPr lang="en-US" sz="11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C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744</a:t>
                      </a:r>
                      <a:endParaRPr lang="en-US" sz="11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C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1.099</a:t>
                      </a:r>
                      <a:endParaRPr lang="en-US" sz="11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C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5.508</a:t>
                      </a:r>
                      <a:endParaRPr lang="en-US" sz="11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C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22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Otimista</a:t>
                      </a:r>
                      <a:endParaRPr lang="en-US" sz="110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113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455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1.270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1.838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9.180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886200"/>
            <a:ext cx="3575304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4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31520" y="4069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B8504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PESSIMISTA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343400"/>
            <a:ext cx="3026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OPEX +10%   ·   Perdas 2%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306824" y="3886200"/>
            <a:ext cx="3575304" cy="1325880"/>
          </a:xfrm>
          <a:prstGeom prst="roundRect">
            <a:avLst>
              <a:gd name="adj" fmla="val 5517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4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581144" y="4069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F2B70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TENDENCIAL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4581144" y="4343400"/>
            <a:ext cx="3026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OPEX base   ·   Perdas 1%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8156448" y="3886200"/>
            <a:ext cx="3575304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4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430768" y="4069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2D6A4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OTIMISTA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430768" y="4343400"/>
            <a:ext cx="3026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OPEX −5%   ·   Perdas 0,5%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457200" y="5440680"/>
            <a:ext cx="11274552" cy="822960"/>
          </a:xfrm>
          <a:prstGeom prst="roundRect">
            <a:avLst>
              <a:gd name="adj" fmla="val 8889"/>
            </a:avLst>
          </a:prstGeom>
          <a:solidFill>
            <a:srgbClr val="FDF1CB"/>
          </a:solidFill>
          <a:ln w="12700">
            <a:solidFill>
              <a:srgbClr val="FDF1C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5800" y="5605272"/>
            <a:ext cx="10817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1B243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IMPORTANTE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85800" y="585216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choques de custos são premissas gerenciais do E6; as receitas P/T/O são as recuperadas da trajetória anterior do projeto.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649224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20" kern="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KAIRÓS · BUSINESS DESIGN · SPRINT E6 · PROJEÇÕES ECO-FIN · FONTE: MODELAGEM E6 ANTÉVIA (ECOFIN)</a:t>
            </a:r>
            <a:endParaRPr lang="en-US" sz="700" dirty="0"/>
          </a:p>
        </p:txBody>
      </p:sp>
      <p:sp>
        <p:nvSpPr>
          <p:cNvPr id="20" name="Text 17"/>
          <p:cNvSpPr txBox="1"/>
          <p:nvPr/>
        </p:nvSpPr>
        <p:spPr>
          <a:xfrm>
            <a:off x="10820095" y="6492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17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5  </a:t>
            </a:r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Unit economics e ponto de equilíbrio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Preço, custo variável e margem de contribuição por viagem — e quantas viagens pagam o fixo de cada estrutura.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20624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728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POR VIAGEM · CENÁRIO TENDENCIAL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Preço médio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834640" y="1920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R$ 200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19456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receita ÷ viagens (1.099 mil ÷ 5.508)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578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– Impostos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2578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6% → 10%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2852928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Simples; alíquota efetiva sobe com a receita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2369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– Processamento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32369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3% do fee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3511296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≈ 1,4% da receita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38953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– Perdas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2834640" y="38953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1%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4169664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2% pessimista · 0,5% otimista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31520" y="4498848"/>
            <a:ext cx="3657600" cy="603504"/>
          </a:xfrm>
          <a:prstGeom prst="roundRect">
            <a:avLst>
              <a:gd name="adj" fmla="val 7576"/>
            </a:avLst>
          </a:prstGeom>
          <a:solidFill>
            <a:srgbClr val="FDF1CB"/>
          </a:solidFill>
          <a:ln w="12700">
            <a:solidFill>
              <a:srgbClr val="FDF1C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45537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= Margem de contribuição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834640" y="45537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R$ 183 → 174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4828032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91% no ano 1 · 87% no ano 3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892040" y="1417320"/>
            <a:ext cx="6839712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4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5166360" y="1600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728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PONTO DE EQUILÍBRIO · VIAGENS POR TRIMESTRE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66360" y="1874520"/>
          <a:ext cx="629107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234440"/>
                <a:gridCol w="822960"/>
                <a:gridCol w="1234440"/>
                <a:gridCol w="822960"/>
                <a:gridCol w="1353312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Fixo A / trim</a:t>
                      </a:r>
                      <a:endParaRPr lang="en-US" sz="9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PE A</a:t>
                      </a:r>
                      <a:endParaRPr lang="en-US" sz="9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Fixo B / trim</a:t>
                      </a:r>
                      <a:endParaRPr lang="en-US" sz="9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PE B</a:t>
                      </a:r>
                      <a:endParaRPr lang="en-US" sz="9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Viagens tendencial</a:t>
                      </a:r>
                      <a:endParaRPr lang="en-US" sz="9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Ano 1</a:t>
                      </a:r>
                      <a:endParaRPr lang="en-US" sz="10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R$ 16,5 mil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90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R$ 53,7 mil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294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89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Ano 2</a:t>
                      </a:r>
                      <a:endParaRPr lang="en-US" sz="10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R$ 49,7 mil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275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R$ 81,0 mil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448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356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Ano 3</a:t>
                      </a:r>
                      <a:endParaRPr lang="en-US" sz="10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R$ 95,4 mil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548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R$ 119,4 mil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686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932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25" name="Text 22"/>
          <p:cNvSpPr txBox="1"/>
          <p:nvPr/>
        </p:nvSpPr>
        <p:spPr>
          <a:xfrm>
            <a:off x="5166360" y="3794760"/>
            <a:ext cx="62910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Leitura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fixo é o custo de prestação + SG&amp;A da DFC (pessoal e estrutura). PE = fixo ÷ margem de contribuição unitária. A cobre o fixo já no ano 1 (90 viagens/trimestre, contra 89 entregues); B só cobre no ano 3 (686 contra 932). É o que faz A virar no T3 e B no T9.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57200" y="5532120"/>
            <a:ext cx="11274552" cy="731520"/>
          </a:xfrm>
          <a:prstGeom prst="roundRect">
            <a:avLst>
              <a:gd name="adj" fmla="val 10000"/>
            </a:avLst>
          </a:prstGeom>
          <a:solidFill>
            <a:srgbClr val="FDF1CB"/>
          </a:solidFill>
          <a:ln w="12700">
            <a:solidFill>
              <a:srgbClr val="FDF1C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85800" y="5696712"/>
            <a:ext cx="10817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1B243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HIPÓTESE A VALIDAR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685800" y="5943600"/>
            <a:ext cx="10817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preço de R$ 200 excede o fee de R$ 50–150: a diferença deve vir da comissão B2B, cuja composição ainda não está aberta no modelo.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649224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20" kern="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KAIRÓS · BUSINESS DESIGN · SPRINT E6 · PROJEÇÕES ECO-FIN · FONTE: MODELAGEM E6 ANTÉVIA (ECOFIN)</a:t>
            </a:r>
            <a:endParaRPr lang="en-US" sz="700" dirty="0"/>
          </a:p>
        </p:txBody>
      </p:sp>
      <p:sp>
        <p:nvSpPr>
          <p:cNvPr id="30" name="Text 27"/>
          <p:cNvSpPr txBox="1"/>
          <p:nvPr/>
        </p:nvSpPr>
        <p:spPr>
          <a:xfrm>
            <a:off x="10820095" y="6492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17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6  </a:t>
            </a:r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DFC A — Bootstrap / Founder-led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Cenário tendencial · 12 trimestres · formato operação → investimento → financiamento.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88336" cy="868680"/>
          </a:xfrm>
          <a:prstGeom prst="roundRect">
            <a:avLst>
              <a:gd name="adj" fmla="val 8421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81328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APORTE INICIAL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700784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R$ 47,4 mil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319272" y="1371600"/>
            <a:ext cx="2688336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4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47872" y="1481328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728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CAIXA MÍNIMO SEM APORTE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3547872" y="1700784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(R$ 31,3 mil) no T5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181344" y="1371600"/>
            <a:ext cx="2688336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4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09944" y="1481328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728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RESULTADO OPERACIONAL &gt; 0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409944" y="1700784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 partir do T3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9043416" y="1371600"/>
            <a:ext cx="2688336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4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272016" y="1481328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728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CAIXA ACUMULADO NO T12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9272016" y="1700784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R$ 292,5 mil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57200" y="2423160"/>
            <a:ext cx="11274552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4000"/>
              </a:srgbClr>
            </a:outerShdw>
          </a:effectLst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606040"/>
          <a:ext cx="1072591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640080"/>
                <a:gridCol w="640080"/>
                <a:gridCol w="640080"/>
                <a:gridCol w="640080"/>
                <a:gridCol w="640080"/>
                <a:gridCol w="640080"/>
                <a:gridCol w="640080"/>
                <a:gridCol w="640080"/>
                <a:gridCol w="640080"/>
                <a:gridCol w="640080"/>
                <a:gridCol w="640080"/>
                <a:gridCol w="640080"/>
                <a:gridCol w="941832"/>
              </a:tblGrid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R$ mil</a:t>
                      </a:r>
                      <a:endParaRPr lang="en-US" sz="7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T1</a:t>
                      </a:r>
                      <a:endParaRPr lang="en-US" sz="7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T2</a:t>
                      </a:r>
                      <a:endParaRPr lang="en-US" sz="7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T3</a:t>
                      </a:r>
                      <a:endParaRPr lang="en-US" sz="7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T4</a:t>
                      </a:r>
                      <a:endParaRPr lang="en-US" sz="7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T5</a:t>
                      </a:r>
                      <a:endParaRPr lang="en-US" sz="7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T6</a:t>
                      </a:r>
                      <a:endParaRPr lang="en-US" sz="7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T7</a:t>
                      </a:r>
                      <a:endParaRPr lang="en-US" sz="7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T8</a:t>
                      </a:r>
                      <a:endParaRPr lang="en-US" sz="7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T9</a:t>
                      </a:r>
                      <a:endParaRPr lang="en-US" sz="7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T10</a:t>
                      </a:r>
                      <a:endParaRPr lang="en-US" sz="7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T11</a:t>
                      </a:r>
                      <a:endParaRPr lang="en-US" sz="7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T12</a:t>
                      </a:r>
                      <a:endParaRPr lang="en-US" sz="7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3 anos</a:t>
                      </a:r>
                      <a:endParaRPr lang="en-US" sz="7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Receita Bruta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7,2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14,2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21,3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28,3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56,6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65,2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76,8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85,4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148,9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171,0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201,0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223,1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1.099,0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 Impostos sobre receita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(0,4)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(0,8)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(1,3)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(1,7)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(3,4)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(3,9)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(5,4)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(6,7)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(13,1)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(16,8)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(21,3)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(25,0)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(100,0)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 Custos transacionais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(0,1)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(0,2)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(0,3)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(0,4)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(0,9)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(1,0)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(1,2)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(1,3)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(2,2)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(2,6)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(3,0)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(3,4)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(16,5)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 Perdas operacionais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(0,1)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(0,1)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(0,2)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(0,3)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(0,6)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(0,7)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(0,8)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(0,9)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(1,5)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(1,7)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(2,0)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(2,2)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(11,0)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Receita Líquida gerencial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6,6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13,0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19,5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25,9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51,8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59,7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69,4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76,5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132,0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149,9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174,7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192,5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971,5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 Total de custos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(9,9)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(9,9)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(9,9)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(9,9)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(29,8)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(29,8)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(29,8)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(29,8)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(57,2)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(57,2)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(57,2)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(57,2)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(387,8)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Contribuição Bruta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(3,3)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3,1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9,6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16,0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22,0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29,9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39,6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46,7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74,8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92,7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117,4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135,3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583,7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 Total de despesas (SG&amp;A)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(6,6)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(6,6)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(6,6)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(6,6)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(19,9)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(19,9)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(19,9)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(19,9)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(38,2)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(38,2)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(38,2)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(38,2)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(258,6)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Resultado operacional de caixa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(9,9)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(3,5)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3,0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9,4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2,1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10,0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19,7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26,8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36,6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54,5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79,3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97,1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325,1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 Investimentos / CAPEX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(8,0)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(24,0)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(48,0)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(80,0)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Fluxo de Caixa Livre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(17,9)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(3,5)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3,0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9,4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(21,9)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10,0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19,7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26,8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(11,4)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54,5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79,3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97,1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245,1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 Financiamento / aporte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47,4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47,4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FC do período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29,5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(3,5)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3,0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9,4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(21,9)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10,0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19,7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26,8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(11,4)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54,5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79,3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97,1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292,5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FC Acumulado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70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29,5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70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25,9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70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29,0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70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38,4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70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16,5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70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26,5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70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46,2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70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73,0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70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61,6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70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116,1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70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195,4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70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292,5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70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292,5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705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731520" y="601675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Abertura gerencial: 60% do OPEX como custo de prestação e 40% como SG&amp;A; o OPEX total não muda. Fonte: DFC tendencial da planilha E6 (E6_DFC_A_Final). Valores em R$ mil; negativos entre parênteses.</a:t>
            </a:r>
            <a:endParaRPr lang="en-US" sz="8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649224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20" kern="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KAIRÓS · BUSINESS DESIGN · SPRINT E6 · PROJEÇÕES ECO-FIN · FONTE: MODELAGEM E6 ANTÉVIA (ECOFIN)</a:t>
            </a:r>
            <a:endParaRPr lang="en-US" sz="700" dirty="0"/>
          </a:p>
        </p:txBody>
      </p:sp>
      <p:sp>
        <p:nvSpPr>
          <p:cNvPr id="20" name="Text 17"/>
          <p:cNvSpPr txBox="1"/>
          <p:nvPr/>
        </p:nvSpPr>
        <p:spPr>
          <a:xfrm>
            <a:off x="10820095" y="6492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17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7  </a:t>
            </a:r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DFC B — Angel / Professional-led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Mesma receita; a diferença de caixa decorre principalmente da estrutura de pessoal.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88336" cy="868680"/>
          </a:xfrm>
          <a:prstGeom prst="roundRect">
            <a:avLst>
              <a:gd name="adj" fmla="val 8421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81328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F2B70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APORTE INICIAL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700784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R$ 337,5 mil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319272" y="1371600"/>
            <a:ext cx="2688336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4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47872" y="1481328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728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CAIXA MÍNIMO SEM APORTE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3547872" y="1700784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(R$ 286,0 mil) no T9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181344" y="1371600"/>
            <a:ext cx="2688336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4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09944" y="1481328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728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RESULTADO OPERACIONAL &gt; 0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409944" y="1700784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 partir do T9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9043416" y="1371600"/>
            <a:ext cx="2688336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4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272016" y="1481328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728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CAIXA ACUMULADO NO T12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9272016" y="1700784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R$ 212,6 mil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57200" y="2423160"/>
            <a:ext cx="11274552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4000"/>
              </a:srgbClr>
            </a:outerShdw>
          </a:effectLst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606040"/>
          <a:ext cx="1072591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640080"/>
                <a:gridCol w="640080"/>
                <a:gridCol w="640080"/>
                <a:gridCol w="640080"/>
                <a:gridCol w="640080"/>
                <a:gridCol w="640080"/>
                <a:gridCol w="640080"/>
                <a:gridCol w="640080"/>
                <a:gridCol w="640080"/>
                <a:gridCol w="640080"/>
                <a:gridCol w="640080"/>
                <a:gridCol w="640080"/>
                <a:gridCol w="941832"/>
              </a:tblGrid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R$ mil</a:t>
                      </a:r>
                      <a:endParaRPr lang="en-US" sz="7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T1</a:t>
                      </a:r>
                      <a:endParaRPr lang="en-US" sz="7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T2</a:t>
                      </a:r>
                      <a:endParaRPr lang="en-US" sz="7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T3</a:t>
                      </a:r>
                      <a:endParaRPr lang="en-US" sz="7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T4</a:t>
                      </a:r>
                      <a:endParaRPr lang="en-US" sz="7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T5</a:t>
                      </a:r>
                      <a:endParaRPr lang="en-US" sz="7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T6</a:t>
                      </a:r>
                      <a:endParaRPr lang="en-US" sz="7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T7</a:t>
                      </a:r>
                      <a:endParaRPr lang="en-US" sz="7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T8</a:t>
                      </a:r>
                      <a:endParaRPr lang="en-US" sz="7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T9</a:t>
                      </a:r>
                      <a:endParaRPr lang="en-US" sz="7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T10</a:t>
                      </a:r>
                      <a:endParaRPr lang="en-US" sz="7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T11</a:t>
                      </a:r>
                      <a:endParaRPr lang="en-US" sz="7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T12</a:t>
                      </a:r>
                      <a:endParaRPr lang="en-US" sz="7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3 anos</a:t>
                      </a:r>
                      <a:endParaRPr lang="en-US" sz="7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Receita Bruta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7,2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14,2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21,3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28,3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56,6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65,2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76,8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85,4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148,9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171,0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201,0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223,1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1.099,0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 Impostos sobre receita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(0,4)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(0,8)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(1,3)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(1,7)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(3,4)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(3,9)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(5,4)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(6,7)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(13,1)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(16,8)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(21,3)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(25,0)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(100,0)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 Custos transacionais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(0,1)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(0,2)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(0,3)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(0,4)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(0,9)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(1,0)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(1,2)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(1,3)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(2,2)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(2,6)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(3,0)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(3,4)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(16,5)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 Perdas operacionais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(0,1)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(0,1)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(0,2)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(0,3)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(0,6)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(0,7)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(0,8)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(0,9)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(1,5)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(1,7)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(2,0)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(2,2)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(11,0)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Receita Líquida gerencial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6,6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13,0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19,5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25,9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51,8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59,7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69,4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76,5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132,0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149,9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174,7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192,5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971,5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 Total de custos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(34,9)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(34,9)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(34,9)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(34,9)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(52,6)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(52,6)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(52,6)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(52,6)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(77,6)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(77,6)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(77,6)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(77,6)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(660,7)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Contribuição Bruta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(28,3)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(21,9)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(15,4)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(9,0)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(0,8)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7,0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16,8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23,8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54,4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72,3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97,0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114,9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310,8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 Total de despesas (SG&amp;A)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(18,8)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(18,8)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(18,8)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(18,8)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(28,3)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(28,3)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(28,3)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(28,3)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(41,8)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(41,8)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(41,8)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(41,8)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(355,7)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Resultado operacional de caixa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(47,1)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(40,7)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(34,2)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(27,8)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(29,2)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(21,3)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(11,6)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(4,5)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12,6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30,5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55,3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73,1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(44,9)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 Investimentos / CAPEX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(8,0)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(24,0)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(48,0)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(80,0)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Fluxo de Caixa Livre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(55,1)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(40,7)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(34,2)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(27,8)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(53,2)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(21,3)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(11,6)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(4,5)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(35,4)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30,5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55,3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73,1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(124,9)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 Financiamento / aporte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337,5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337,5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FC do período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282,4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(40,7)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(34,2)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(27,8)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(53,2)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(21,3)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(11,6)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(4,5)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(35,4)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30,5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55,3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73,1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212,6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FC Acumulado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282,4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241,6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207,5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179,7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126,5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105,2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93,6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89,1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53,7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84,2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139,5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212,6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212,6</a:t>
                      </a:r>
                      <a:endParaRPr lang="en-US" sz="7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731520" y="601675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Abertura gerencial: 65% do OPEX como custo de prestação e 35% como SG&amp;A; o OPEX total não muda. Fonte: DFC tendencial da planilha E6 (E6_DFC_B_Final). Valores em R$ mil; negativos entre parênteses.</a:t>
            </a:r>
            <a:endParaRPr lang="en-US" sz="8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649224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20" kern="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KAIRÓS · BUSINESS DESIGN · SPRINT E6 · PROJEÇÕES ECO-FIN · FONTE: MODELAGEM E6 ANTÉVIA (ECOFIN)</a:t>
            </a:r>
            <a:endParaRPr lang="en-US" sz="700" dirty="0"/>
          </a:p>
        </p:txBody>
      </p:sp>
      <p:sp>
        <p:nvSpPr>
          <p:cNvPr id="20" name="Text 17"/>
          <p:cNvSpPr txBox="1"/>
          <p:nvPr/>
        </p:nvSpPr>
        <p:spPr>
          <a:xfrm>
            <a:off x="10820095" y="6492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/ 17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8  </a:t>
            </a:r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Curva de caixa acumulado — sem aporte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Cenário tendencial, 12 trimestres. O aporte é o ponto mais baixo de cada curva mais um colchão de segurança.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7589520" cy="4800600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645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728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FLUXO DE CAIXA LIVRE ACUMULADO (R$ MIL)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874520"/>
          <a:ext cx="74066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275320" y="1463040"/>
            <a:ext cx="3456432" cy="4800600"/>
          </a:xfrm>
          <a:prstGeom prst="roundRect">
            <a:avLst>
              <a:gd name="adj" fmla="val 2116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4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549640" y="1691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F2B70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LEITURA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8549640" y="2011680"/>
            <a:ext cx="548640" cy="292608"/>
          </a:xfrm>
          <a:prstGeom prst="roundRect">
            <a:avLst>
              <a:gd name="adj" fmla="val 15625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549640" y="20116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8549640" y="23774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Vale de R$ 31,3 mil no T5; recupera no T8 e fecha o T12 com R$ 245 mil acumulados. Aporte de R$ 47,4 mil = vale + colchão de R$ 16,1 mil.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549640" y="3337560"/>
            <a:ext cx="548640" cy="292608"/>
          </a:xfrm>
          <a:prstGeom prst="roundRect">
            <a:avLst>
              <a:gd name="adj" fmla="val 15625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549640" y="333756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549640" y="37033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Vale de R$ 286 mil no T9; ainda negativo em R$ 125 mil no T12. Aporte de R$ 337,5 mil = vale + colchão de R$ 51,5 mil.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549640" y="4663440"/>
            <a:ext cx="548640" cy="292608"/>
          </a:xfrm>
          <a:prstGeom prst="roundRect">
            <a:avLst>
              <a:gd name="adj" fmla="val 15625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549640" y="466344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 × B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8549640" y="50292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mesma receita sustenta A e não sustenta B dentro do horizonte. O que B compra é velocidade de execução, não retorno.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649224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20" kern="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KAIRÓS · BUSINESS DESIGN · SPRINT E6 · PROJEÇÕES ECO-FIN · FONTE: MODELAGEM E6 ANTÉVIA (ECOFIN)</a:t>
            </a:r>
            <a:endParaRPr lang="en-US" sz="700" dirty="0"/>
          </a:p>
        </p:txBody>
      </p:sp>
      <p:sp>
        <p:nvSpPr>
          <p:cNvPr id="19" name="Text 16"/>
          <p:cNvSpPr txBox="1"/>
          <p:nvPr/>
        </p:nvSpPr>
        <p:spPr>
          <a:xfrm>
            <a:off x="10820095" y="6492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/ 17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9  </a:t>
            </a:r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 que muda de A para B?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receita é a mesma; o custo de capacidade altera o runway e o capital necessário.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72237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728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COMPARATIVO · CENÁRIO TENDENCIAL (R$ MIL)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74520"/>
          <a:ext cx="66751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463040"/>
                <a:gridCol w="1737360"/>
                <a:gridCol w="128016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Métrica</a:t>
                      </a:r>
                      <a:endParaRPr lang="en-US" sz="100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A — Founder-led</a:t>
                      </a:r>
                      <a:endParaRPr lang="en-US" sz="100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B — Professional-led</a:t>
                      </a:r>
                      <a:endParaRPr lang="en-US" sz="100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Δ B vs A</a:t>
                      </a:r>
                      <a:endParaRPr lang="en-US" sz="100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Funding tendencial</a:t>
                      </a:r>
                      <a:endParaRPr lang="en-US" sz="110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C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47,4</a:t>
                      </a:r>
                      <a:endParaRPr lang="en-US" sz="11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C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337,5</a:t>
                      </a:r>
                      <a:endParaRPr lang="en-US" sz="11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C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+ 290,1</a:t>
                      </a:r>
                      <a:endParaRPr lang="en-US" sz="11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C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22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OPEX ano 1</a:t>
                      </a:r>
                      <a:endParaRPr lang="en-US" sz="110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66,0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214,8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+ 148,8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22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OPEX ano 2</a:t>
                      </a:r>
                      <a:endParaRPr lang="en-US" sz="110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198,8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324,0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+ 125,2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22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OPEX ano 3</a:t>
                      </a:r>
                      <a:endParaRPr lang="en-US" sz="110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381,6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477,6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+ 96,0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FC acumulado T12*</a:t>
                      </a:r>
                      <a:endParaRPr lang="en-US" sz="110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C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292,5</a:t>
                      </a:r>
                      <a:endParaRPr lang="en-US" sz="11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C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212,6</a:t>
                      </a:r>
                      <a:endParaRPr lang="en-US" sz="11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C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− 79,9</a:t>
                      </a:r>
                      <a:endParaRPr lang="en-US" sz="11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C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31520" y="44348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 Inclui o aporte inicial dimensionado para cada estrutura.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7909560" y="1417320"/>
            <a:ext cx="3822192" cy="1554480"/>
          </a:xfrm>
          <a:prstGeom prst="roundRect">
            <a:avLst>
              <a:gd name="adj" fmla="val 4706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138160" y="1581912"/>
            <a:ext cx="3364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F2B70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 LEITURA CORRETA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1828800"/>
            <a:ext cx="33649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E6E8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 não compra receita adicional no modelo; compra capacidade de execução.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909560" y="3154680"/>
            <a:ext cx="3822192" cy="1554480"/>
          </a:xfrm>
          <a:prstGeom prst="roundRect">
            <a:avLst>
              <a:gd name="adj" fmla="val 4706"/>
            </a:avLst>
          </a:prstGeom>
          <a:solidFill>
            <a:srgbClr val="FDF1CB"/>
          </a:solidFill>
          <a:ln w="12700">
            <a:solidFill>
              <a:srgbClr val="FDF1C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138160" y="3319272"/>
            <a:ext cx="3364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1B243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IMPLICAÇÃO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3566160"/>
            <a:ext cx="33649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Antes de PMF, essa capacidade precisa ser financiada por capital paciente.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4937760"/>
            <a:ext cx="11274552" cy="1325880"/>
          </a:xfrm>
          <a:prstGeom prst="roundRect">
            <a:avLst>
              <a:gd name="adj" fmla="val 5517"/>
            </a:avLst>
          </a:prstGeom>
          <a:solidFill>
            <a:srgbClr val="E6E8F0"/>
          </a:solidFill>
          <a:ln w="12700">
            <a:solidFill>
              <a:srgbClr val="E6E8F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5074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7,1×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5623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mais capital em B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3474720" y="5074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+ R$ 370 mil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3474720" y="5623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OPEX em 3 anos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6217920" y="5074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T3 → T9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6217920" y="5623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 operacional positivo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8961120" y="5074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T5 → T9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8961120" y="5623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trimestre do caixa mínimo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649224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20" kern="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KAIRÓS · BUSINESS DESIGN · SPRINT E6 · PROJEÇÕES ECO-FIN · FONTE: MODELAGEM E6 ANTÉVIA (ECOFIN)</a:t>
            </a:r>
            <a:endParaRPr lang="en-US" sz="700" dirty="0"/>
          </a:p>
        </p:txBody>
      </p:sp>
      <p:sp>
        <p:nvSpPr>
          <p:cNvPr id="24" name="Text 21"/>
          <p:cNvSpPr txBox="1"/>
          <p:nvPr/>
        </p:nvSpPr>
        <p:spPr>
          <a:xfrm>
            <a:off x="10820095" y="6492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17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10  </a:t>
            </a:r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Sensibilidade: a demanda decide o tamanho do cheque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funding tendencial não deve ser confundido com capital suficiente em qualquer cenário.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658368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728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FUNDING REQUERIDO POR CENÁRIO (R$ MIL)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828800"/>
          <a:ext cx="62179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269480" y="1417320"/>
            <a:ext cx="4462272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4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543800" y="1600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728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FUNDING POR CENÁRIO (R$ MIL)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43800" y="1874520"/>
          <a:ext cx="39319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22960"/>
                <a:gridCol w="868680"/>
                <a:gridCol w="10515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Cenário</a:t>
                      </a:r>
                      <a:endParaRPr lang="en-US" sz="9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A</a:t>
                      </a:r>
                      <a:endParaRPr lang="en-US" sz="9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B</a:t>
                      </a:r>
                      <a:endParaRPr lang="en-US" sz="9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Diferença</a:t>
                      </a:r>
                      <a:endParaRPr lang="en-US" sz="9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Pessimista</a:t>
                      </a:r>
                      <a:endParaRPr lang="en-US" sz="10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328,5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776,4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447,9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122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Tendencial</a:t>
                      </a:r>
                      <a:endParaRPr lang="en-US" sz="10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C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47,4</a:t>
                      </a:r>
                      <a:endParaRPr lang="en-US" sz="10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C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337,5</a:t>
                      </a:r>
                      <a:endParaRPr lang="en-US" sz="10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C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290,1</a:t>
                      </a:r>
                      <a:endParaRPr lang="en-US" sz="10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C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Otimista</a:t>
                      </a:r>
                      <a:endParaRPr lang="en-US" sz="10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29,0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177,1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148,1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7543800" y="3520440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 no pessimista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necessidade de caixa salta de ~R$ 47 mil para ~R$ 328 mil.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 no pessimista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estrutura profissional exigiria ~R$ 776 mil.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57200" y="5532120"/>
            <a:ext cx="5532120" cy="731520"/>
          </a:xfrm>
          <a:prstGeom prst="roundRect">
            <a:avLst>
              <a:gd name="adj" fmla="val 10000"/>
            </a:avLst>
          </a:prstGeom>
          <a:solidFill>
            <a:srgbClr val="FDF1CB"/>
          </a:solidFill>
          <a:ln w="12700">
            <a:solidFill>
              <a:srgbClr val="FDF1CB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85800" y="5696712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1B243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CONCLUSÃO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5943600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Validar demanda antes de fixar estrutura reduz o risco de capital.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99632" y="5532120"/>
            <a:ext cx="5532120" cy="731520"/>
          </a:xfrm>
          <a:prstGeom prst="roundRect">
            <a:avLst>
              <a:gd name="adj" fmla="val 10000"/>
            </a:avLst>
          </a:prstGeom>
          <a:solidFill>
            <a:srgbClr val="E6E8F0"/>
          </a:solidFill>
          <a:ln w="12700">
            <a:solidFill>
              <a:srgbClr val="E6E8F0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428232" y="5696712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1B243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DRIVERS CRÍTICOS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6428232" y="5943600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Alunos captados · frequência de viagens · fee · comissão · perdas · OPEX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9224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20" kern="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KAIRÓS · BUSINESS DESIGN · SPRINT E6 · PROJEÇÕES ECO-FIN · FONTE: MODELAGEM E6 ANTÉVIA (ECOFIN)</a:t>
            </a:r>
            <a:endParaRPr lang="en-US" sz="700" dirty="0"/>
          </a:p>
        </p:txBody>
      </p:sp>
      <p:sp>
        <p:nvSpPr>
          <p:cNvPr id="18" name="Text 14"/>
          <p:cNvSpPr txBox="1"/>
          <p:nvPr/>
        </p:nvSpPr>
        <p:spPr>
          <a:xfrm>
            <a:off x="10820095" y="6492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17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11  </a:t>
            </a:r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Estrutura de capital: três caminhos foram considerados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análise de dívida foi útil justamente porque mostrou o descasamento com a fase de validação.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575304" cy="3931920"/>
          </a:xfrm>
          <a:prstGeom prst="roundRect">
            <a:avLst>
              <a:gd name="adj" fmla="val 20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91640"/>
            <a:ext cx="457200" cy="329184"/>
          </a:xfrm>
          <a:prstGeom prst="roundRect">
            <a:avLst>
              <a:gd name="adj" fmla="val 16667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9164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691640"/>
            <a:ext cx="2478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Capital próprio · Bootstrap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194560"/>
            <a:ext cx="3026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Founders executam a operação e aportam o caixa necessário.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971800"/>
            <a:ext cx="3026664" cy="0"/>
          </a:xfrm>
          <a:prstGeom prst="line">
            <a:avLst/>
          </a:prstGeom>
          <a:noFill/>
          <a:ln w="12700">
            <a:solidFill>
              <a:srgbClr val="E6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108960"/>
            <a:ext cx="3026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728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VANTAGEM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328416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preserva equity e minimiza custo fixo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840480"/>
            <a:ext cx="3026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728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CUSTO OCULTO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059936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sweat equity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572000"/>
            <a:ext cx="3026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728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FUNDING · VPL · PAYBACK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791456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R$ 47,4 mil · R$ 116,2 mil · T10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06824" y="1417320"/>
            <a:ext cx="3575304" cy="3931920"/>
          </a:xfrm>
          <a:prstGeom prst="roundRect">
            <a:avLst>
              <a:gd name="adj" fmla="val 2046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81144" y="1691640"/>
            <a:ext cx="457200" cy="329184"/>
          </a:xfrm>
          <a:prstGeom prst="roundRect">
            <a:avLst>
              <a:gd name="adj" fmla="val 16667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81144" y="169164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175504" y="1691640"/>
            <a:ext cx="2478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Investidor-anjo · Equity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81144" y="2194560"/>
            <a:ext cx="3026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Equity financia staff profissional e runway.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81144" y="2971800"/>
            <a:ext cx="3026664" cy="0"/>
          </a:xfrm>
          <a:prstGeom prst="line">
            <a:avLst/>
          </a:prstGeom>
          <a:noFill/>
          <a:ln w="12700">
            <a:solidFill>
              <a:srgbClr val="1B243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81144" y="3108960"/>
            <a:ext cx="3026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F2B70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VANTAGEM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581144" y="3328416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capacidade de execução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581144" y="3840480"/>
            <a:ext cx="3026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F2B70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CUSTO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581144" y="4059936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diluição + maior cheque inicial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581144" y="4572000"/>
            <a:ext cx="3026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F2B70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FUNDING · VPL · PAYBACK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581144" y="4791456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R$ 337,5 mil · (R$ 476,7 mil) · &gt; 12T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156448" y="1417320"/>
            <a:ext cx="3575304" cy="3931920"/>
          </a:xfrm>
          <a:prstGeom prst="roundRect">
            <a:avLst>
              <a:gd name="adj" fmla="val 20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430768" y="1691640"/>
            <a:ext cx="457200" cy="329184"/>
          </a:xfrm>
          <a:prstGeom prst="roundRect">
            <a:avLst>
              <a:gd name="adj" fmla="val 16667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430768" y="169164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025128" y="1691640"/>
            <a:ext cx="2478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Dívida · descartado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430768" y="2194560"/>
            <a:ext cx="3026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Foram simulados crédito de sócios/bancário, carência e amortização.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430768" y="2971800"/>
            <a:ext cx="3026664" cy="0"/>
          </a:xfrm>
          <a:prstGeom prst="line">
            <a:avLst/>
          </a:prstGeom>
          <a:noFill/>
          <a:ln w="12700">
            <a:solidFill>
              <a:srgbClr val="E6E8F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430768" y="3108960"/>
            <a:ext cx="3026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728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CONCLUSÃO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8430768" y="3328416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serviço da dívida é incompatível com a geração de caixa inicial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8430768" y="3840480"/>
            <a:ext cx="3026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728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STATUS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8430768" y="4059936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alternativa estudada e descartada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57200" y="5532120"/>
            <a:ext cx="11274552" cy="731520"/>
          </a:xfrm>
          <a:prstGeom prst="roundRect">
            <a:avLst>
              <a:gd name="adj" fmla="val 10000"/>
            </a:avLst>
          </a:prstGeom>
          <a:solidFill>
            <a:srgbClr val="FDF1CB"/>
          </a:solidFill>
          <a:ln w="12700">
            <a:solidFill>
              <a:srgbClr val="FDF1C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85800" y="5696712"/>
            <a:ext cx="10817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1B243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DECISÃO DE MODELAGEM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685800" y="5943600"/>
            <a:ext cx="10817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 permanece como alternativa estudada e descartada; a comparação final concentra-se em A × B.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649224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20" kern="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KAIRÓS · BUSINESS DESIGN · SPRINT E6 · PROJEÇÕES ECO-FIN · FONTE: MODELAGEM E6 ANTÉVIA (ECOFIN)</a:t>
            </a:r>
            <a:endParaRPr lang="en-US" sz="700" dirty="0"/>
          </a:p>
        </p:txBody>
      </p:sp>
      <p:sp>
        <p:nvSpPr>
          <p:cNvPr id="42" name="Text 40"/>
          <p:cNvSpPr txBox="1"/>
          <p:nvPr/>
        </p:nvSpPr>
        <p:spPr>
          <a:xfrm>
            <a:off x="10820095" y="6492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17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12  </a:t>
            </a:r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Break-even e exposição de caixa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 operacional positivo não é o mesmo que recuperação integral do capital investido.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60350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728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CENÁRIO TENDENCIAL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74520"/>
          <a:ext cx="54864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463040"/>
                <a:gridCol w="164592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Métrica</a:t>
                      </a:r>
                      <a:endParaRPr lang="en-US" sz="100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A — Founder-led</a:t>
                      </a:r>
                      <a:endParaRPr lang="en-US" sz="100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B — Professional-led</a:t>
                      </a:r>
                      <a:endParaRPr lang="en-US" sz="100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22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Resultado operacional &gt; 0</a:t>
                      </a:r>
                      <a:endParaRPr lang="en-US" sz="110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T3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T9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22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Exposição máxima*</a:t>
                      </a:r>
                      <a:endParaRPr lang="en-US" sz="110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R$ 78,3 mil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R$ 621,3 mil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22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Momento da exposição máxima</a:t>
                      </a:r>
                      <a:endParaRPr lang="en-US" sz="110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T5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T9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22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Payback simples</a:t>
                      </a:r>
                      <a:endParaRPr lang="en-US" sz="110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T10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&gt; T12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3152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 Aporte inicial somado ao caixa acumulado negativo (aba Viabilidade_S06).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720840" y="1417320"/>
            <a:ext cx="5010912" cy="1463040"/>
          </a:xfrm>
          <a:prstGeom prst="roundRect">
            <a:avLst>
              <a:gd name="adj" fmla="val 5000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995160" y="16002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 · DUAS VIRADAS DE CAIXA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6995160" y="1874520"/>
            <a:ext cx="4462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T3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operação passa a gerar resultado de caixa positivo.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T10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investimento econômico acumulado é recuperado.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720840" y="3063240"/>
            <a:ext cx="5010912" cy="1463040"/>
          </a:xfrm>
          <a:prstGeom prst="roundRect">
            <a:avLst>
              <a:gd name="adj" fmla="val 500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995160" y="32461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F2B70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 · CAPACIDADE ANTES DA TRAÇÃO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6995160" y="3520440"/>
            <a:ext cx="4462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resultado operacional só fica positivo no T9 e o investimento não é recuperado dentro dos 12 trimestres.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4754880"/>
            <a:ext cx="11274552" cy="1508760"/>
          </a:xfrm>
          <a:prstGeom prst="roundRect">
            <a:avLst>
              <a:gd name="adj" fmla="val 4848"/>
            </a:avLst>
          </a:prstGeom>
          <a:solidFill>
            <a:srgbClr val="E6E8F0"/>
          </a:solidFill>
          <a:ln w="12700">
            <a:solidFill>
              <a:srgbClr val="E6E8F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" y="4919472"/>
            <a:ext cx="10817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1B243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LEITURA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5166360"/>
            <a:ext cx="108173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 “break-even” precisa ser nomeado com precisão: break-even operacional (T3 em A / T9 em B) versus payback econômico (T10 em A / além de T12 em B).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49224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20" kern="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KAIRÓS · BUSINESS DESIGN · SPRINT E6 · PROJEÇÕES ECO-FIN · FONTE: MODELAGEM E6 ANTÉVIA (ECOFIN)</a:t>
            </a:r>
            <a:endParaRPr lang="en-US" sz="700" dirty="0"/>
          </a:p>
        </p:txBody>
      </p:sp>
      <p:sp>
        <p:nvSpPr>
          <p:cNvPr id="18" name="Text 15"/>
          <p:cNvSpPr txBox="1"/>
          <p:nvPr/>
        </p:nvSpPr>
        <p:spPr>
          <a:xfrm>
            <a:off x="10820095" y="6492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/ 17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13  </a:t>
            </a:r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Indicadores de viabilidade reforçam a diferença entre A e B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Mesma receita projetada; estruturas de custo diferentes produzem retornos radicalmente distintos.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60350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728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CENÁRIO TENDENCIAL · TMA DE 15% A.A.*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74520"/>
          <a:ext cx="54864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554480"/>
                <a:gridCol w="155448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Indicador</a:t>
                      </a:r>
                      <a:endParaRPr lang="en-US" sz="100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A — Bootstrap</a:t>
                      </a:r>
                      <a:endParaRPr lang="en-US" sz="100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B — Angel</a:t>
                      </a:r>
                      <a:endParaRPr lang="en-US" sz="100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VPL do projeto</a:t>
                      </a:r>
                      <a:endParaRPr lang="en-US" sz="110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C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R$ 116,2 mil</a:t>
                      </a:r>
                      <a:endParaRPr lang="en-US" sz="11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C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(R$ 476,7 mil)</a:t>
                      </a:r>
                      <a:endParaRPr lang="en-US" sz="11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C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22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TIR trimestral</a:t>
                      </a:r>
                      <a:endParaRPr lang="en-US" sz="110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14,4%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(14,5%)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22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TIR anual equivalente</a:t>
                      </a:r>
                      <a:endParaRPr lang="en-US" sz="110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71,3%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(46,4%)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22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Payback simples</a:t>
                      </a:r>
                      <a:endParaRPr lang="en-US" sz="110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T10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&gt; 12T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31520" y="4206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 TMA de 15% a.a. é premissa acadêmica de modelagem e permanece a validar pela equipe. Fonte: aba Viabilidade_S06.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720840" y="1417320"/>
            <a:ext cx="5010912" cy="1508760"/>
          </a:xfrm>
          <a:prstGeom prst="roundRect">
            <a:avLst>
              <a:gd name="adj" fmla="val 4848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995160" y="16002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 · CENÁRIO TENDENCIAL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6995160" y="1874520"/>
            <a:ext cx="4462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VPL positivo e TIR acima da TMA adotada no modelo.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720840" y="3108960"/>
            <a:ext cx="5010912" cy="1508760"/>
          </a:xfrm>
          <a:prstGeom prst="roundRect">
            <a:avLst>
              <a:gd name="adj" fmla="val 484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995160" y="32918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F2B70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 · CENÁRIO TENDENCIAL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6995160" y="3566160"/>
            <a:ext cx="4462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VPL negativo e ausência de payback no horizonte modelado.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57200" y="4846320"/>
            <a:ext cx="11274552" cy="1417320"/>
          </a:xfrm>
          <a:prstGeom prst="roundRect">
            <a:avLst>
              <a:gd name="adj" fmla="val 5161"/>
            </a:avLst>
          </a:prstGeom>
          <a:solidFill>
            <a:srgbClr val="E6E8F0"/>
          </a:solidFill>
          <a:ln w="12700">
            <a:solidFill>
              <a:srgbClr val="E6E8F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" y="5010912"/>
            <a:ext cx="10817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1B243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NÃO CONFUNDIR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525780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cenário B não é um valuation do equity do investidor: aqui se mede a viabilidade econômica do projeto sob a estrutura B. Capital deve acompanhar a evidência de tração, não antecedê-la.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49224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20" kern="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KAIRÓS · BUSINESS DESIGN · SPRINT E6 · PROJEÇÕES ECO-FIN · FONTE: MODELAGEM E6 ANTÉVIA (ECOFIN)</a:t>
            </a:r>
            <a:endParaRPr lang="en-US" sz="700" dirty="0"/>
          </a:p>
        </p:txBody>
      </p:sp>
      <p:sp>
        <p:nvSpPr>
          <p:cNvPr id="18" name="Text 15"/>
          <p:cNvSpPr txBox="1"/>
          <p:nvPr/>
        </p:nvSpPr>
        <p:spPr>
          <a:xfrm>
            <a:off x="10820095" y="6492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/ 17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14  </a:t>
            </a:r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 que ainda é hipótese — e precisa ser testado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robustez do trabalho depende de não esconder o que ainda não foi validado.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74552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4000"/>
              </a:srgbClr>
            </a:outerShdw>
          </a:effectLst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725912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377440"/>
                <a:gridCol w="469087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Hipótese</a:t>
                      </a:r>
                      <a:endParaRPr lang="en-US" sz="100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Situação no modelo</a:t>
                      </a:r>
                      <a:endParaRPr lang="en-US" sz="100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Teste / validação necessária</a:t>
                      </a:r>
                      <a:endParaRPr lang="en-US" sz="100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22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Disposição a pagar / fee (R$ 50–150)</a:t>
                      </a:r>
                      <a:endParaRPr lang="en-US" sz="110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Crítica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Teste com clientes; H6 segue a verificar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22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Comissão B2B</a:t>
                      </a:r>
                      <a:endParaRPr lang="en-US" sz="110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Crítica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Negociação com fornecedores e parceiros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22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CAC por aluno</a:t>
                      </a:r>
                      <a:endParaRPr lang="en-US" sz="110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Não isolado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Pilotos de aquisição e canais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22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Salários + encargos (40%)</a:t>
                      </a:r>
                      <a:endParaRPr lang="en-US" sz="110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Premissa acadêmica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Benchmark, contratação e regime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22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Tributação (Simples / Anexo III)</a:t>
                      </a:r>
                      <a:endParaRPr lang="en-US" sz="110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Base acadêmica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CNAE + contador + PGDAS-D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220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Touchless rate / exceções</a:t>
                      </a:r>
                      <a:endParaRPr lang="en-US" sz="110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Premissa operacional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Piloto e instrumentação do processo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212080"/>
            <a:ext cx="11274552" cy="1051560"/>
          </a:xfrm>
          <a:prstGeom prst="roundRect">
            <a:avLst>
              <a:gd name="adj" fmla="val 6957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5376672"/>
            <a:ext cx="10817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F2B70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USO CORRETO DA DFC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562356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E6E8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 planilha é instrumento de decisão e teste de hipóteses — não previsão determinística.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49224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20" kern="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KAIRÓS · BUSINESS DESIGN · SPRINT E6 · PROJEÇÕES ECO-FIN · FONTE: MODELAGEM E6 ANTÉVIA (ECOFIN)</a:t>
            </a:r>
            <a:endParaRPr lang="en-US" sz="700" dirty="0"/>
          </a:p>
        </p:txBody>
      </p:sp>
      <p:sp>
        <p:nvSpPr>
          <p:cNvPr id="10" name="Text 7"/>
          <p:cNvSpPr txBox="1"/>
          <p:nvPr/>
        </p:nvSpPr>
        <p:spPr>
          <a:xfrm>
            <a:off x="10820095" y="6492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/ 17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15  </a:t>
            </a:r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Recomendação: A como entrada; B como opção de escala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estrutura de capital deve acompanhar a evidência, não antecedê-la.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575304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F2B70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PASSO 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20240"/>
            <a:ext cx="2935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Entrar enxuto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60320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Founder-led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71800"/>
            <a:ext cx="29352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Aporte tendencial ≈ R$ 47,4 mil. Preservar equity e aprender a operação real.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087368" y="2697480"/>
            <a:ext cx="164592" cy="365760"/>
          </a:xfrm>
          <a:prstGeom prst="chevron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06824" y="1417320"/>
            <a:ext cx="3575304" cy="2926080"/>
          </a:xfrm>
          <a:prstGeom prst="roundRect">
            <a:avLst>
              <a:gd name="adj" fmla="val 250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4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626864" y="1691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F2B70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PASSO 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626864" y="1920240"/>
            <a:ext cx="2935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Validar gates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626864" y="2560320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B70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Antes de qualquer capital externo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626864" y="2971800"/>
            <a:ext cx="29352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Demanda · fee · comissão · CAC · carga operacional · retenção.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936992" y="2697480"/>
            <a:ext cx="164592" cy="365760"/>
          </a:xfrm>
          <a:prstGeom prst="chevron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56448" y="1417320"/>
            <a:ext cx="3575304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4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76488" y="1691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F2B70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PASSO 3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476488" y="1920240"/>
            <a:ext cx="2935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Profissionalizar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8476488" y="2560320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Professional-led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476488" y="2971800"/>
            <a:ext cx="29352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Migrar para B somente quando a tração justificar o custo de capacidade e o capital externo.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4572000"/>
            <a:ext cx="11274552" cy="1691640"/>
          </a:xfrm>
          <a:prstGeom prst="roundRect">
            <a:avLst>
              <a:gd name="adj" fmla="val 4324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4736592"/>
            <a:ext cx="10817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F2B70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SÍNTESE DO E6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4983480"/>
            <a:ext cx="108173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E6E8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 negócio é viável no cenário tendencial sob estrutura enxuta, mas sua necessidade de capital é altamente sensível à validação comercial. A estrutura founder-led reduz a exposição de capital; profissionalização e capital externo ficam condicionados à validação de demanda, fee, comissão, CAC e carga operacional.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9224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20" kern="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KAIRÓS · BUSINESS DESIGN · SPRINT E6 · PROJEÇÕES ECO-FIN · FONTE: MODELAGEM E6 ANTÉVIA (ECOFIN)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10820095" y="6492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/ 17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arca/antevia_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4048" y="2148840"/>
            <a:ext cx="5943600" cy="150510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40690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Obrigado.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1371600" y="4709160"/>
            <a:ext cx="9448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Sprint E6 · Projeção de custos, despesas e investimentos · consolidação em DFC de 3 anos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5047488"/>
            <a:ext cx="9448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Kairós · Business Designer · Fundação Dom Cabral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49224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20" kern="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KAIRÓS · BUSINESS DESIGN · SPRINT E6 · PROJEÇÕES ECO-FIN · FONTE: MODELAGEM E6 ANTÉVIA (ECOFIN)</a:t>
            </a:r>
            <a:endParaRPr lang="en-US" sz="700" dirty="0"/>
          </a:p>
        </p:txBody>
      </p:sp>
      <p:sp>
        <p:nvSpPr>
          <p:cNvPr id="7" name="Text 4"/>
          <p:cNvSpPr txBox="1"/>
          <p:nvPr/>
        </p:nvSpPr>
        <p:spPr>
          <a:xfrm>
            <a:off x="10820095" y="6492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 / 17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2026-09-16T22:57:14Z</dcterms:created>
  <dcterms:modified xsi:type="dcterms:W3CDTF">2026-09-16T22:57:14Z</dcterms:modified>
</cp:coreProperties>
</file>